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1"/>
  </p:notesMasterIdLst>
  <p:handoutMasterIdLst>
    <p:handoutMasterId r:id="rId12"/>
  </p:handoutMasterIdLst>
  <p:sldIdLst>
    <p:sldId id="257" r:id="rId2"/>
    <p:sldId id="259" r:id="rId3"/>
    <p:sldId id="261" r:id="rId4"/>
    <p:sldId id="260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F2607F-EAB8-462D-9596-B11A1C51125F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0EC31D-9C0F-4EDB-9AC9-93AE84D7514D}" type="datetime1">
              <a:rPr lang="ru-RU" smtClean="0"/>
              <a:t>19.02.2022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48E6C3-8E12-426B-A56F-861F8B162AC6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3CF11-4D7C-4367-8D00-578223D03103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40FCE8-CB6C-4798-845F-C8260D76B307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C13A7E-4C64-47B0-B355-B165BE4012BA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1CA3B4-5CE4-4976-BBFE-4E91C7258FC5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316041-DA7D-4734-AA8C-761AB09393E2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92EF8B-D3DF-4216-96A1-1B1DE794B37A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09563768-3096-48CB-A41A-8D454362CCAD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0088EE-0E82-4198-BDFF-3B9755AA8919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23C2A-FDF4-456A-A556-14045268B55D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5CFD7-CC7C-49C5-B221-A9E29F5846A0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6B9E6FA-8E94-487D-81C3-7EE9BB2FD23D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Вывод данных</a:t>
            </a:r>
            <a:br>
              <a:rPr lang="ru-RU" dirty="0"/>
            </a:br>
            <a:r>
              <a:rPr lang="en-US" dirty="0"/>
              <a:t>Binding</a:t>
            </a:r>
            <a:endParaRPr lang="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ru-RU" dirty="0"/>
              <a:t>Основные</a:t>
            </a:r>
            <a:r>
              <a:rPr lang="ru" dirty="0"/>
              <a:t> понятия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Рисунок 5" descr="Крупный план логотипа&#10;&#10;Автоматически созданное описание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19.02.2022</a:t>
            </a:fld>
            <a:endParaRPr lang="en-US" dirty="0"/>
          </a:p>
        </p:txBody>
      </p: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2BE525D6-353D-4E36-872D-1EEDF304A9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4479301"/>
              </p:ext>
            </p:extLst>
          </p:nvPr>
        </p:nvGraphicFramePr>
        <p:xfrm>
          <a:off x="6435011" y="743755"/>
          <a:ext cx="5373420" cy="2855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Точечный рисунок" r:id="rId3" imgW="5746680" imgH="3054240" progId="Paint.Picture">
                  <p:embed/>
                </p:oleObj>
              </mc:Choice>
              <mc:Fallback>
                <p:oleObj name="Точечный рисунок" r:id="rId3" imgW="5746680" imgH="30542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435011" y="743755"/>
                        <a:ext cx="5373420" cy="285592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4786B639-7C2C-4F3D-907F-9563F26A9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757558"/>
              </p:ext>
            </p:extLst>
          </p:nvPr>
        </p:nvGraphicFramePr>
        <p:xfrm>
          <a:off x="1238969" y="1015233"/>
          <a:ext cx="3797300" cy="258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Точечный рисунок" r:id="rId5" imgW="3797280" imgH="2584440" progId="Paint.Picture">
                  <p:embed/>
                </p:oleObj>
              </mc:Choice>
              <mc:Fallback>
                <p:oleObj name="Точечный рисунок" r:id="rId5" imgW="3797280" imgH="25844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238969" y="1015233"/>
                        <a:ext cx="3797300" cy="2584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Объект 6">
            <a:extLst>
              <a:ext uri="{FF2B5EF4-FFF2-40B4-BE49-F238E27FC236}">
                <a16:creationId xmlns:a16="http://schemas.microsoft.com/office/drawing/2014/main" id="{F420D3F9-CAD9-4FF3-98FC-D4A5CFD096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680383"/>
              </p:ext>
            </p:extLst>
          </p:nvPr>
        </p:nvGraphicFramePr>
        <p:xfrm>
          <a:off x="311150" y="3726780"/>
          <a:ext cx="11569700" cy="277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Точечный рисунок" r:id="rId7" imgW="11569680" imgH="3079800" progId="Paint.Picture">
                  <p:embed/>
                </p:oleObj>
              </mc:Choice>
              <mc:Fallback>
                <p:oleObj name="Точечный рисунок" r:id="rId7" imgW="11569680" imgH="30798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11150" y="3726780"/>
                        <a:ext cx="11569700" cy="2776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5384B02E-F0F8-4302-9D96-9DA86BBC14F8}"/>
              </a:ext>
            </a:extLst>
          </p:cNvPr>
          <p:cNvSpPr txBox="1"/>
          <p:nvPr/>
        </p:nvSpPr>
        <p:spPr>
          <a:xfrm>
            <a:off x="421240" y="582353"/>
            <a:ext cx="567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ru-RU" dirty="0"/>
              <a:t>Создание источника данных</a:t>
            </a:r>
          </a:p>
        </p:txBody>
      </p:sp>
    </p:spTree>
    <p:extLst>
      <p:ext uri="{BB962C8B-B14F-4D97-AF65-F5344CB8AC3E}">
        <p14:creationId xmlns:p14="http://schemas.microsoft.com/office/powerpoint/2010/main" val="19937402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6571602A-F822-4709-8541-391E80DAE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4B02E-F0F8-4302-9D96-9DA86BBC14F8}"/>
              </a:ext>
            </a:extLst>
          </p:cNvPr>
          <p:cNvSpPr txBox="1"/>
          <p:nvPr/>
        </p:nvSpPr>
        <p:spPr>
          <a:xfrm>
            <a:off x="421240" y="582353"/>
            <a:ext cx="5674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2. Подготовка интерфейса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5B872D0-E63E-4802-82FC-040C8B62A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132" y="951685"/>
            <a:ext cx="7399775" cy="40107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459770FF-E6AC-4063-812A-0CC1FB971E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6581605"/>
              </p:ext>
            </p:extLst>
          </p:nvPr>
        </p:nvGraphicFramePr>
        <p:xfrm>
          <a:off x="8179570" y="1029802"/>
          <a:ext cx="3583298" cy="393261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583298">
                  <a:extLst>
                    <a:ext uri="{9D8B030D-6E8A-4147-A177-3AD203B41FA5}">
                      <a16:colId xmlns:a16="http://schemas.microsoft.com/office/drawing/2014/main" val="2510127331"/>
                    </a:ext>
                  </a:extLst>
                </a:gridCol>
              </a:tblGrid>
              <a:tr h="3932616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Фреймы </a:t>
                      </a:r>
                      <a:r>
                        <a:rPr lang="en-US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Frame</a:t>
                      </a:r>
                      <a:r>
                        <a:rPr lang="ru-RU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 упрощают организацию содержимого в приложении, например, в виде отдельных страниц - элементов Page и передачу их в объект </a:t>
                      </a:r>
                      <a:r>
                        <a:rPr lang="ru-RU" sz="20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Window</a:t>
                      </a:r>
                      <a:r>
                        <a:rPr lang="ru-RU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.</a:t>
                      </a:r>
                    </a:p>
                    <a:p>
                      <a:pPr algn="just">
                        <a:lnSpc>
                          <a:spcPct val="100000"/>
                        </a:lnSpc>
                      </a:pPr>
                      <a:endParaRPr lang="ru-RU" sz="20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ru-RU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Для перехода к отдельной странице Frame использует метод </a:t>
                      </a:r>
                      <a:r>
                        <a:rPr lang="ru-RU" sz="20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Navigate</a:t>
                      </a:r>
                      <a:r>
                        <a:rPr lang="ru-RU" sz="20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  <a:cs typeface="Arial" panose="020B0604020202020204" pitchFamily="34" charset="0"/>
                        </a:rPr>
                        <a:t>(), в который передается тип страницы</a:t>
                      </a:r>
                      <a:r>
                        <a:rPr lang="ru-RU" sz="2000" dirty="0">
                          <a:effectLst/>
                          <a:latin typeface="+mn-lt"/>
                        </a:rPr>
                        <a:t>.</a:t>
                      </a:r>
                      <a:endParaRPr lang="ru-RU" sz="2000" dirty="0">
                        <a:effectLst/>
                        <a:latin typeface="+mn-lt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97045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968910-3867-4528-8365-F70DEF1F3D31}"/>
              </a:ext>
            </a:extLst>
          </p:cNvPr>
          <p:cNvSpPr txBox="1"/>
          <p:nvPr/>
        </p:nvSpPr>
        <p:spPr>
          <a:xfrm>
            <a:off x="432207" y="5572950"/>
            <a:ext cx="11406697" cy="369332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Frame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x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="RootFrame"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Grid.Column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="2"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Grid.Row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="0"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NavigationUIVisibility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="Hidden"/&gt;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78556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F1D4CC7-5563-4F09-9423-CC874DF0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19.02.2022</a:t>
            </a:fld>
            <a:endParaRPr lang="en-US" dirty="0"/>
          </a:p>
        </p:txBody>
      </p: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F5C7BEE0-AAE5-4156-90A9-7ED5396C29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1515869"/>
              </p:ext>
            </p:extLst>
          </p:nvPr>
        </p:nvGraphicFramePr>
        <p:xfrm>
          <a:off x="339903" y="647005"/>
          <a:ext cx="2286000" cy="332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Точечный рисунок" r:id="rId3" imgW="2286000" imgH="3321000" progId="Paint.Picture">
                  <p:embed/>
                </p:oleObj>
              </mc:Choice>
              <mc:Fallback>
                <p:oleObj name="Точечный рисунок" r:id="rId3" imgW="2286000" imgH="33210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9903" y="647005"/>
                        <a:ext cx="2286000" cy="3321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Объект 2">
            <a:extLst>
              <a:ext uri="{FF2B5EF4-FFF2-40B4-BE49-F238E27FC236}">
                <a16:creationId xmlns:a16="http://schemas.microsoft.com/office/drawing/2014/main" id="{733A1ADA-0B13-48EF-B0E3-F359804456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1081381"/>
              </p:ext>
            </p:extLst>
          </p:nvPr>
        </p:nvGraphicFramePr>
        <p:xfrm>
          <a:off x="3030152" y="919962"/>
          <a:ext cx="8745352" cy="2819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Точечный рисунок" r:id="rId5" imgW="11461680" imgH="3695760" progId="Paint.Picture">
                  <p:embed/>
                </p:oleObj>
              </mc:Choice>
              <mc:Fallback>
                <p:oleObj name="Точечный рисунок" r:id="rId5" imgW="11461680" imgH="36957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030152" y="919962"/>
                        <a:ext cx="8745352" cy="28198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EA798A-1A70-49E4-A175-63D852460CEA}"/>
              </a:ext>
            </a:extLst>
          </p:cNvPr>
          <p:cNvSpPr txBox="1"/>
          <p:nvPr/>
        </p:nvSpPr>
        <p:spPr>
          <a:xfrm>
            <a:off x="3047144" y="4428833"/>
            <a:ext cx="6097712" cy="92333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DataGrid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 x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: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="BookGrid"&gt;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</a:p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&lt;/</a:t>
            </a:r>
            <a:r>
              <a:rPr lang="en-US" sz="1800" dirty="0">
                <a:solidFill>
                  <a:srgbClr val="A31515"/>
                </a:solidFill>
                <a:latin typeface="Consolas" panose="020B0609020204030204" pitchFamily="49" charset="0"/>
              </a:rPr>
              <a:t>DataGrid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&gt;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1950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F1D4CC7-5563-4F09-9423-CC874DF0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19.02.2022</a:t>
            </a:fld>
            <a:endParaRPr lang="en-US" dirty="0"/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B705CFA2-528E-41C0-9CD9-514F5BFFBA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1227080"/>
              </p:ext>
            </p:extLst>
          </p:nvPr>
        </p:nvGraphicFramePr>
        <p:xfrm>
          <a:off x="317500" y="720066"/>
          <a:ext cx="11557000" cy="352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Точечный рисунок" r:id="rId3" imgW="11557080" imgH="3524400" progId="Paint.Picture">
                  <p:embed/>
                </p:oleObj>
              </mc:Choice>
              <mc:Fallback>
                <p:oleObj name="Точечный рисунок" r:id="rId3" imgW="11557080" imgH="35244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7500" y="720066"/>
                        <a:ext cx="11557000" cy="3524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D6DD770-BAEE-46D2-B206-87538662F042}"/>
              </a:ext>
            </a:extLst>
          </p:cNvPr>
          <p:cNvSpPr txBox="1"/>
          <p:nvPr/>
        </p:nvSpPr>
        <p:spPr>
          <a:xfrm>
            <a:off x="1702513" y="4687783"/>
            <a:ext cx="8786973" cy="646331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DataContext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this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BookGrid.ItemsSource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SourceCore.MyBase.Books.ToList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529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F1D4CC7-5563-4F09-9423-CC874DF0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19.02.2022</a:t>
            </a:fld>
            <a:endParaRPr lang="en-US" dirty="0"/>
          </a:p>
        </p:txBody>
      </p:sp>
      <p:graphicFrame>
        <p:nvGraphicFramePr>
          <p:cNvPr id="2" name="Объект 1">
            <a:extLst>
              <a:ext uri="{FF2B5EF4-FFF2-40B4-BE49-F238E27FC236}">
                <a16:creationId xmlns:a16="http://schemas.microsoft.com/office/drawing/2014/main" id="{9D2A075A-F896-43EB-BD2D-7D388654539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224169"/>
              </p:ext>
            </p:extLst>
          </p:nvPr>
        </p:nvGraphicFramePr>
        <p:xfrm>
          <a:off x="1538751" y="750424"/>
          <a:ext cx="9114497" cy="422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Точечный рисунок" r:id="rId3" imgW="9632880" imgH="4470480" progId="Paint.Picture">
                  <p:embed/>
                </p:oleObj>
              </mc:Choice>
              <mc:Fallback>
                <p:oleObj name="Точечный рисунок" r:id="rId3" imgW="9632880" imgH="447048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38751" y="750424"/>
                        <a:ext cx="9114497" cy="422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B1F82C6-A77D-4B5D-A43D-7C9DFCADB2EC}"/>
              </a:ext>
            </a:extLst>
          </p:cNvPr>
          <p:cNvSpPr txBox="1"/>
          <p:nvPr/>
        </p:nvSpPr>
        <p:spPr>
          <a:xfrm>
            <a:off x="1010291" y="5223585"/>
            <a:ext cx="10171416" cy="1200329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BooksButton_Click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object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sender,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RoutedEventArgs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e)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RootFrame.Navigate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Pages.BookPage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ru-RU" sz="1800" dirty="0">
                <a:solidFill>
                  <a:srgbClr val="000000"/>
                </a:solidFill>
                <a:latin typeface="Consolas" panose="020B0609020204030204" pitchFamily="49" charset="0"/>
              </a:rPr>
              <a:t>        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459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F1D4CC7-5563-4F09-9423-CC874DF0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19.02.2022</a:t>
            </a:fld>
            <a:endParaRPr lang="en-US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F8DF526-EE45-4E3E-99B2-A7E2EF2C9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687262"/>
              </p:ext>
            </p:extLst>
          </p:nvPr>
        </p:nvGraphicFramePr>
        <p:xfrm>
          <a:off x="503434" y="877697"/>
          <a:ext cx="11239928" cy="548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239928">
                  <a:extLst>
                    <a:ext uri="{9D8B030D-6E8A-4147-A177-3AD203B41FA5}">
                      <a16:colId xmlns:a16="http://schemas.microsoft.com/office/drawing/2014/main" val="1373540996"/>
                    </a:ext>
                  </a:extLst>
                </a:gridCol>
              </a:tblGrid>
              <a:tr h="3652837">
                <a:tc>
                  <a:txBody>
                    <a:bodyPr/>
                    <a:lstStyle/>
                    <a:p>
                      <a:pPr mar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Binding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 класс для создания и обслуживания простой привязки между свойством элемента управления и свойством объекта либо свойством текущего объекта в списке объектов.</a:t>
                      </a:r>
                    </a:p>
                    <a:p>
                      <a:pPr marL="0" indent="0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-RU" sz="1400" u="sng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Некоторые свойства класса </a:t>
                      </a:r>
                      <a:r>
                        <a:rPr lang="ru-RU" sz="1400" u="sng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Binding</a:t>
                      </a:r>
                      <a:r>
                        <a:rPr lang="ru-RU" sz="1400" u="sng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ru-RU" sz="18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ElementName</a:t>
                      </a:r>
                      <a:r>
                        <a:rPr lang="ru-RU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 имя элемента, к которому создается привязка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IsAsync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 если установлено в </a:t>
                      </a: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True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то использует асинхронный режим получения данных из объекта. По умолчанию равно </a:t>
                      </a: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False</a:t>
                      </a:r>
                      <a:endParaRPr lang="ru-RU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Mode: режим привязки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ru-RU" sz="18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Path</a:t>
                      </a:r>
                      <a:r>
                        <a:rPr lang="ru-RU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 ссылка на свойство объекта, к которому идет привязка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TargetNullValue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 устанавливает значение по умолчанию, если привязанное свойство источника привязки имеет значение </a:t>
                      </a: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null</a:t>
                      </a:r>
                      <a:endParaRPr lang="ru-RU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+mn-lt"/>
                      </a:endParaRP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RelativeSource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 создает привязку относительно текущего объекта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Source: указывает на объект-источник, если он не является элементом управления.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  <a:tabLst>
                          <a:tab pos="457200" algn="l"/>
                        </a:tabLst>
                      </a:pP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XPath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 используется вместо свойства </a:t>
                      </a: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path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для указания пути к </a:t>
                      </a: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xml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-данным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-RU" sz="1400" u="sng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Свойство Mode объекта </a:t>
                      </a:r>
                      <a:r>
                        <a:rPr lang="ru-RU" sz="1400" u="sng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Binding</a:t>
                      </a:r>
                      <a:r>
                        <a:rPr lang="ru-RU" sz="1400" u="sng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которое представляет режим привязки, может принимать следующие значения: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</a:pP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OneWay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 свойство объекта-приемника изменяется после модификации свойства объекта-источника.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</a:pP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OneTime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 свойство объекта-приемника устанавливается по свойству объекта-источника только один раз. В дальнейшем изменения в источнике никак не влияют на объект-приемник.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</a:pP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TwoWay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 оба объекта - </a:t>
                      </a: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применки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 и источник могут изменять привязанные свойства друг друга.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</a:pP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OneWayToSource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 объект-приемник, в котором объявлена привязка, меняет объект-источник.</a:t>
                      </a:r>
                    </a:p>
                    <a:p>
                      <a:pPr marL="0" lvl="0" indent="0" algn="just">
                        <a:lnSpc>
                          <a:spcPct val="100000"/>
                        </a:lnSpc>
                        <a:spcAft>
                          <a:spcPts val="800"/>
                        </a:spcAft>
                        <a:buSzPts val="1000"/>
                        <a:buFont typeface="Symbol" panose="05050102010706020507" pitchFamily="18" charset="2"/>
                        <a:buNone/>
                      </a:pP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Default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: по умолчанию (если меняется свойство </a:t>
                      </a: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TextBox.Text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то имеет значение </a:t>
                      </a: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TwoWay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, в остальных случаях </a:t>
                      </a:r>
                      <a:r>
                        <a:rPr lang="ru-RU" sz="1400" dirty="0" err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OneWay</a:t>
                      </a:r>
                      <a:r>
                        <a:rPr lang="ru-RU" sz="14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+mn-lt"/>
                        </a:rPr>
                        <a:t>).</a:t>
                      </a:r>
                      <a:endParaRPr lang="ru-RU" sz="14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517" marR="39517" marT="0" marB="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2674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60701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F1D4CC7-5563-4F09-9423-CC874DF0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19.02.2022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52BB88-C0F8-4B07-BBC7-AB55E071B330}"/>
              </a:ext>
            </a:extLst>
          </p:cNvPr>
          <p:cNvSpPr txBox="1"/>
          <p:nvPr/>
        </p:nvSpPr>
        <p:spPr>
          <a:xfrm>
            <a:off x="387849" y="644430"/>
            <a:ext cx="60977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DataGrid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до настройки содержимого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Объект 5">
            <a:extLst>
              <a:ext uri="{FF2B5EF4-FFF2-40B4-BE49-F238E27FC236}">
                <a16:creationId xmlns:a16="http://schemas.microsoft.com/office/drawing/2014/main" id="{ED19437A-2494-4399-8CCB-4E808664B5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811749"/>
              </p:ext>
            </p:extLst>
          </p:nvPr>
        </p:nvGraphicFramePr>
        <p:xfrm>
          <a:off x="468330" y="926033"/>
          <a:ext cx="8363020" cy="2330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Точечный рисунок" r:id="rId3" imgW="9321840" imgH="2597040" progId="Paint.Picture">
                  <p:embed/>
                </p:oleObj>
              </mc:Choice>
              <mc:Fallback>
                <p:oleObj name="Точечный рисунок" r:id="rId3" imgW="9321840" imgH="25970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30" y="926033"/>
                        <a:ext cx="8363020" cy="23300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85F153F-8661-4224-87DF-780789CBEDD8}"/>
              </a:ext>
            </a:extLst>
          </p:cNvPr>
          <p:cNvSpPr txBox="1"/>
          <p:nvPr/>
        </p:nvSpPr>
        <p:spPr>
          <a:xfrm>
            <a:off x="387849" y="3429000"/>
            <a:ext cx="6097712" cy="375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DataGrid</a:t>
            </a:r>
            <a:r>
              <a:rPr lang="ru-RU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после настройки содержимого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74770D66-94A5-46C2-9D2C-8F5D0F6E68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9643691"/>
              </p:ext>
            </p:extLst>
          </p:nvPr>
        </p:nvGraphicFramePr>
        <p:xfrm>
          <a:off x="468329" y="3797079"/>
          <a:ext cx="8363019" cy="2809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9" name="Точечный рисунок" r:id="rId5" imgW="9347040" imgH="3270240" progId="Paint.Picture">
                  <p:embed/>
                </p:oleObj>
              </mc:Choice>
              <mc:Fallback>
                <p:oleObj name="Точечный рисунок" r:id="rId5" imgW="9347040" imgH="327024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68329" y="3797079"/>
                        <a:ext cx="8363019" cy="28093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91786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CF1D4CC7-5563-4F09-9423-CC874DF07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19.02.2022</a:t>
            </a:fld>
            <a:endParaRPr lang="en-US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C3867E15-4867-4922-84BE-4C3160823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9703742"/>
              </p:ext>
            </p:extLst>
          </p:nvPr>
        </p:nvGraphicFramePr>
        <p:xfrm>
          <a:off x="593411" y="890200"/>
          <a:ext cx="11201322" cy="44729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1735">
                  <a:extLst>
                    <a:ext uri="{9D8B030D-6E8A-4147-A177-3AD203B41FA5}">
                      <a16:colId xmlns:a16="http://schemas.microsoft.com/office/drawing/2014/main" val="2835215656"/>
                    </a:ext>
                  </a:extLst>
                </a:gridCol>
                <a:gridCol w="7479587">
                  <a:extLst>
                    <a:ext uri="{9D8B030D-6E8A-4147-A177-3AD203B41FA5}">
                      <a16:colId xmlns:a16="http://schemas.microsoft.com/office/drawing/2014/main" val="1510566477"/>
                    </a:ext>
                  </a:extLst>
                </a:gridCol>
              </a:tblGrid>
              <a:tr h="216458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1-ый способ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>
                          <a:effectLst/>
                        </a:rPr>
                        <a:t>2-й способ</a:t>
                      </a:r>
                      <a:endParaRPr lang="ru-RU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02508774"/>
                  </a:ext>
                </a:extLst>
              </a:tr>
              <a:tr h="3311230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>
                          <a:effectLst/>
                          <a:latin typeface="Corbel" panose="020B0503020204020204" pitchFamily="34" charset="0"/>
                        </a:rPr>
                        <a:t>&lt;DataGridTextColumn Header="</a:t>
                      </a:r>
                      <a:r>
                        <a:rPr lang="ru-RU" sz="2000">
                          <a:effectLst/>
                          <a:latin typeface="Corbel" panose="020B0503020204020204" pitchFamily="34" charset="0"/>
                        </a:rPr>
                        <a:t>Наименование</a:t>
                      </a:r>
                      <a:r>
                        <a:rPr lang="en-US" sz="2000">
                          <a:effectLst/>
                          <a:latin typeface="Corbel" panose="020B0503020204020204" pitchFamily="34" charset="0"/>
                        </a:rPr>
                        <a:t>" Binding="{Binding Path=Name}" Width="40"/&gt;</a:t>
                      </a:r>
                      <a:endParaRPr lang="ru-RU" sz="2000">
                        <a:effectLst/>
                        <a:latin typeface="Corbel" panose="020B05030202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&lt;</a:t>
                      </a:r>
                      <a:r>
                        <a:rPr lang="en-US" sz="2000" dirty="0" err="1">
                          <a:effectLst/>
                          <a:latin typeface="Corbel" panose="020B0503020204020204" pitchFamily="34" charset="0"/>
                        </a:rPr>
                        <a:t>DataGridTemplateColumn</a:t>
                      </a: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 Width="40"&gt;</a:t>
                      </a:r>
                      <a:endParaRPr lang="ru-RU" sz="2000" dirty="0">
                        <a:effectLst/>
                        <a:latin typeface="Corbel" panose="020B0503020204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        &lt;</a:t>
                      </a:r>
                      <a:r>
                        <a:rPr lang="en-US" sz="2000" dirty="0" err="1">
                          <a:effectLst/>
                          <a:latin typeface="Corbel" panose="020B0503020204020204" pitchFamily="34" charset="0"/>
                        </a:rPr>
                        <a:t>DataGridTemplateColumn.Header</a:t>
                      </a: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&gt;</a:t>
                      </a:r>
                      <a:endParaRPr lang="ru-RU" sz="2000" dirty="0">
                        <a:effectLst/>
                        <a:latin typeface="Corbel" panose="020B0503020204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                   </a:t>
                      </a:r>
                      <a:r>
                        <a:rPr lang="ru-RU" sz="2000" dirty="0">
                          <a:effectLst/>
                          <a:latin typeface="Corbel" panose="020B0503020204020204" pitchFamily="34" charset="0"/>
                        </a:rPr>
                        <a:t>Наименование</a:t>
                      </a: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         &lt;/</a:t>
                      </a:r>
                      <a:r>
                        <a:rPr lang="en-US" sz="2000" dirty="0" err="1">
                          <a:effectLst/>
                          <a:latin typeface="Corbel" panose="020B0503020204020204" pitchFamily="34" charset="0"/>
                        </a:rPr>
                        <a:t>DataGridTemplateColumn.Header</a:t>
                      </a: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&gt;</a:t>
                      </a:r>
                      <a:endParaRPr lang="ru-RU" sz="2000" dirty="0">
                        <a:effectLst/>
                        <a:latin typeface="Corbel" panose="020B0503020204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          &lt;</a:t>
                      </a:r>
                      <a:r>
                        <a:rPr lang="en-US" sz="2000" dirty="0" err="1">
                          <a:effectLst/>
                          <a:latin typeface="Corbel" panose="020B0503020204020204" pitchFamily="34" charset="0"/>
                        </a:rPr>
                        <a:t>DataGridTemplateColumn.CellTemplate</a:t>
                      </a: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&gt;</a:t>
                      </a:r>
                      <a:endParaRPr lang="ru-RU" sz="2000" dirty="0">
                        <a:effectLst/>
                        <a:latin typeface="Corbel" panose="020B0503020204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                     &lt;</a:t>
                      </a:r>
                      <a:r>
                        <a:rPr lang="en-US" sz="2000" dirty="0" err="1">
                          <a:effectLst/>
                          <a:latin typeface="Corbel" panose="020B0503020204020204" pitchFamily="34" charset="0"/>
                        </a:rPr>
                        <a:t>DataTemplate</a:t>
                      </a: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&gt;</a:t>
                      </a:r>
                      <a:endParaRPr lang="ru-RU" sz="2000" dirty="0">
                        <a:effectLst/>
                        <a:latin typeface="Corbel" panose="020B0503020204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                                 &lt;Label Content="{Binding Name}"/&gt;</a:t>
                      </a:r>
                      <a:endParaRPr lang="ru-RU" sz="2000" dirty="0">
                        <a:effectLst/>
                        <a:latin typeface="Corbel" panose="020B0503020204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                     &lt;/</a:t>
                      </a:r>
                      <a:r>
                        <a:rPr lang="en-US" sz="2000" dirty="0" err="1">
                          <a:effectLst/>
                          <a:latin typeface="Corbel" panose="020B0503020204020204" pitchFamily="34" charset="0"/>
                        </a:rPr>
                        <a:t>DataTemplate</a:t>
                      </a: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&gt;</a:t>
                      </a:r>
                      <a:endParaRPr lang="ru-RU" sz="2000" dirty="0">
                        <a:effectLst/>
                        <a:latin typeface="Corbel" panose="020B0503020204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ru-RU" sz="2000" dirty="0">
                          <a:effectLst/>
                          <a:latin typeface="Corbel" panose="020B0503020204020204" pitchFamily="34" charset="0"/>
                        </a:rPr>
                        <a:t>  </a:t>
                      </a: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          &lt;/</a:t>
                      </a:r>
                      <a:r>
                        <a:rPr lang="en-US" sz="2000" dirty="0" err="1">
                          <a:effectLst/>
                          <a:latin typeface="Corbel" panose="020B0503020204020204" pitchFamily="34" charset="0"/>
                        </a:rPr>
                        <a:t>DataGridTemplateColumn.CellTemplate</a:t>
                      </a: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&gt;</a:t>
                      </a:r>
                      <a:endParaRPr lang="ru-RU" sz="2000" dirty="0">
                        <a:effectLst/>
                        <a:latin typeface="Corbel" panose="020B0503020204020204" pitchFamily="34" charset="0"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&lt;/</a:t>
                      </a:r>
                      <a:r>
                        <a:rPr lang="en-US" sz="2000" dirty="0" err="1">
                          <a:effectLst/>
                          <a:latin typeface="Corbel" panose="020B0503020204020204" pitchFamily="34" charset="0"/>
                        </a:rPr>
                        <a:t>DataGridTemplateColumn</a:t>
                      </a:r>
                      <a:r>
                        <a:rPr lang="en-US" sz="2000" dirty="0">
                          <a:effectLst/>
                          <a:latin typeface="Corbel" panose="020B0503020204020204" pitchFamily="34" charset="0"/>
                        </a:rPr>
                        <a:t>&gt;</a:t>
                      </a:r>
                      <a:endParaRPr lang="ru-RU" sz="2000" dirty="0">
                        <a:effectLst/>
                        <a:latin typeface="Corbel" panose="020B0503020204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0570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060079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8_TF33552983" id="{160FF37C-0DDC-4D2E-AEAD-253EF6364DF1}" vid="{EC99DBC3-C858-4F3A-82DD-48D686A36D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{E7921153-B2DF-4019-B994-AB152F3456EA}tf33552983_win32</Template>
  <TotalTime>1384</TotalTime>
  <Words>437</Words>
  <Application>Microsoft Office PowerPoint</Application>
  <PresentationFormat>Широкоэкранный</PresentationFormat>
  <Paragraphs>56</Paragraphs>
  <Slides>9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9</vt:i4>
      </vt:variant>
    </vt:vector>
  </HeadingPairs>
  <TitlesOfParts>
    <vt:vector size="20" baseType="lpstr">
      <vt:lpstr>Arial</vt:lpstr>
      <vt:lpstr>Calibri</vt:lpstr>
      <vt:lpstr>Consolas</vt:lpstr>
      <vt:lpstr>Corbel</vt:lpstr>
      <vt:lpstr>Franklin Gothic Book</vt:lpstr>
      <vt:lpstr>Franklin Gothic Demi</vt:lpstr>
      <vt:lpstr>Symbol</vt:lpstr>
      <vt:lpstr>Wingdings 2</vt:lpstr>
      <vt:lpstr>ДивидендVTI</vt:lpstr>
      <vt:lpstr>Точечный рисунок</vt:lpstr>
      <vt:lpstr>Изображение Paintbrush</vt:lpstr>
      <vt:lpstr>Вывод данных Binding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ОТЛАДКА И ТЕСТИРОВАНИЕ  ПРОГРАММНОГО ПРОДУКТА</dc:title>
  <dc:creator>Екатерина Лобанова</dc:creator>
  <cp:lastModifiedBy>Екатерина Лобанова</cp:lastModifiedBy>
  <cp:revision>41</cp:revision>
  <dcterms:created xsi:type="dcterms:W3CDTF">2020-09-03T19:08:12Z</dcterms:created>
  <dcterms:modified xsi:type="dcterms:W3CDTF">2022-02-19T03:38:44Z</dcterms:modified>
</cp:coreProperties>
</file>