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9"/>
  </p:notesMasterIdLst>
  <p:handoutMasterIdLst>
    <p:handoutMasterId r:id="rId10"/>
  </p:handout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04.02.2022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ru" dirty="0"/>
              <a:t>КЛИЕНТ-СЕРВЕРНая архитектура</a:t>
            </a:r>
            <a:br>
              <a:rPr lang="ru" dirty="0"/>
            </a:b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Основные</a:t>
            </a:r>
            <a:r>
              <a:rPr lang="ru" dirty="0"/>
              <a:t> понятия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2B08E32-AA97-4444-BC55-482F40090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448" y="544870"/>
            <a:ext cx="11029615" cy="33242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Система клиент-сервер – пара программных модулей, разработанных для связи друг с другом через сеть посредством согласованного протокола. </a:t>
            </a:r>
          </a:p>
          <a:p>
            <a:pPr marL="0" indent="0" algn="just">
              <a:buNone/>
            </a:pPr>
            <a:r>
              <a:rPr lang="ru-RU" sz="2000" dirty="0"/>
              <a:t>Клиентский модуль отправляет запросы через сеть программе сервера, а сервер отвечает на запросы.</a:t>
            </a:r>
          </a:p>
          <a:p>
            <a:pPr marL="0" indent="0" algn="just">
              <a:buNone/>
            </a:pPr>
            <a:r>
              <a:rPr lang="ru-RU" sz="2000" dirty="0"/>
              <a:t>СУБД – система управления базами данных - совокупность программных и лингвистических средств общего или специального назначения, обеспечивающих управление созданием и использованием баз данных.</a:t>
            </a:r>
          </a:p>
          <a:p>
            <a:pPr marL="0" indent="0" algn="just">
              <a:buNone/>
            </a:pP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3896B6-1A66-42E7-8004-F6547E1A3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1" y="3493997"/>
            <a:ext cx="1733855" cy="68235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0C157C8-0D38-4A32-944C-25C234023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933" y="3139796"/>
            <a:ext cx="1847510" cy="10365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D691C20-6E92-47B7-9AF0-892034D76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9027" y="3362563"/>
            <a:ext cx="2634837" cy="79045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78A9B75-8846-491C-A236-CAA2DDB40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2702" y="3246479"/>
            <a:ext cx="2026868" cy="9298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AB15984-191C-43A4-B06E-FF8194DC0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1512" y="3545949"/>
            <a:ext cx="2281461" cy="630404"/>
          </a:xfrm>
          <a:prstGeom prst="rect">
            <a:avLst/>
          </a:prstGeom>
        </p:spPr>
      </p:pic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DB241F6B-0195-4141-BA45-072633EECC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097138"/>
              </p:ext>
            </p:extLst>
          </p:nvPr>
        </p:nvGraphicFramePr>
        <p:xfrm>
          <a:off x="2452682" y="4566095"/>
          <a:ext cx="7286636" cy="1735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Точечный рисунок" r:id="rId8" imgW="6184800" imgH="1473120" progId="Paint.Picture">
                  <p:embed/>
                </p:oleObj>
              </mc:Choice>
              <mc:Fallback>
                <p:oleObj name="Точечный рисунок" r:id="rId8" imgW="6184800" imgH="147312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52682" y="4566095"/>
                        <a:ext cx="7286636" cy="1735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9374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328A6CF-F829-4134-B734-004E769CD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734" y="2352786"/>
            <a:ext cx="7353032" cy="3429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84B98B-02F1-4BD5-AF17-57D33E1199CA}"/>
              </a:ext>
            </a:extLst>
          </p:cNvPr>
          <p:cNvSpPr txBox="1"/>
          <p:nvPr/>
        </p:nvSpPr>
        <p:spPr>
          <a:xfrm>
            <a:off x="895350" y="862290"/>
            <a:ext cx="107823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0" i="0" dirty="0">
                <a:solidFill>
                  <a:srgbClr val="333333"/>
                </a:solidFill>
                <a:effectLst/>
                <a:latin typeface="Merriweather"/>
              </a:rPr>
              <a:t>Структура типового приложения, </a:t>
            </a:r>
          </a:p>
          <a:p>
            <a:pPr algn="ctr"/>
            <a:r>
              <a:rPr lang="ru-RU" sz="3600" b="0" i="0" dirty="0">
                <a:solidFill>
                  <a:srgbClr val="333333"/>
                </a:solidFill>
                <a:effectLst/>
                <a:latin typeface="Merriweather"/>
              </a:rPr>
              <a:t>работающего с базой данных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095769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4B98B-02F1-4BD5-AF17-57D33E1199CA}"/>
              </a:ext>
            </a:extLst>
          </p:cNvPr>
          <p:cNvSpPr txBox="1"/>
          <p:nvPr/>
        </p:nvSpPr>
        <p:spPr>
          <a:xfrm>
            <a:off x="704849" y="557490"/>
            <a:ext cx="1078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0" i="0" u="sng" dirty="0">
                <a:solidFill>
                  <a:srgbClr val="333333"/>
                </a:solidFill>
                <a:effectLst/>
                <a:latin typeface="Merriweather"/>
              </a:rPr>
              <a:t>Двухуровневые модели</a:t>
            </a:r>
            <a:endParaRPr lang="ru-RU" sz="3600" u="sn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6B1AD5-DD76-4B44-8531-7173ADD00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2514600"/>
            <a:ext cx="7958137" cy="390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3CE2D0-1D7A-40B9-AA5E-AD9224D3FDF8}"/>
              </a:ext>
            </a:extLst>
          </p:cNvPr>
          <p:cNvSpPr txBox="1"/>
          <p:nvPr/>
        </p:nvSpPr>
        <p:spPr>
          <a:xfrm>
            <a:off x="704849" y="1203821"/>
            <a:ext cx="107823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Модель файлового сервера (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Merriweather"/>
              </a:rPr>
              <a:t>FS)</a:t>
            </a:r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 – </a:t>
            </a:r>
          </a:p>
          <a:p>
            <a:pPr algn="ctr"/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модель удаленного управления данными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34212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CE2D0-1D7A-40B9-AA5E-AD9224D3FDF8}"/>
              </a:ext>
            </a:extLst>
          </p:cNvPr>
          <p:cNvSpPr txBox="1"/>
          <p:nvPr/>
        </p:nvSpPr>
        <p:spPr>
          <a:xfrm>
            <a:off x="923148" y="915523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Модель удаленного доступа к данным (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Merriweather"/>
              </a:rPr>
              <a:t>RDA)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A397F8-2AB8-496A-ABD8-792F88BFE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921" y="1976437"/>
            <a:ext cx="8840754" cy="2633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2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CE2D0-1D7A-40B9-AA5E-AD9224D3FDF8}"/>
              </a:ext>
            </a:extLst>
          </p:cNvPr>
          <p:cNvSpPr txBox="1"/>
          <p:nvPr/>
        </p:nvSpPr>
        <p:spPr>
          <a:xfrm>
            <a:off x="923148" y="915523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Модель </a:t>
            </a:r>
            <a:r>
              <a:rPr lang="ru-RU" sz="2800" dirty="0">
                <a:solidFill>
                  <a:srgbClr val="333333"/>
                </a:solidFill>
                <a:latin typeface="Merriweather"/>
              </a:rPr>
              <a:t>сервера баз данных </a:t>
            </a:r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(</a:t>
            </a:r>
            <a:r>
              <a:rPr lang="en-US" sz="2800" dirty="0">
                <a:solidFill>
                  <a:srgbClr val="333333"/>
                </a:solidFill>
                <a:latin typeface="Merriweather"/>
              </a:rPr>
              <a:t>DBS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Merriweather"/>
              </a:rPr>
              <a:t>)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81DD9F-3AC6-41D1-9708-C831E773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712" y="1581150"/>
            <a:ext cx="9215438" cy="398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07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04.02.2022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84B98B-02F1-4BD5-AF17-57D33E1199CA}"/>
              </a:ext>
            </a:extLst>
          </p:cNvPr>
          <p:cNvSpPr txBox="1"/>
          <p:nvPr/>
        </p:nvSpPr>
        <p:spPr>
          <a:xfrm>
            <a:off x="704849" y="557490"/>
            <a:ext cx="1078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0" i="0" u="sng" dirty="0">
                <a:solidFill>
                  <a:srgbClr val="333333"/>
                </a:solidFill>
                <a:effectLst/>
                <a:latin typeface="Merriweather"/>
              </a:rPr>
              <a:t>Трехуровневые модели</a:t>
            </a:r>
            <a:endParaRPr lang="ru-RU" sz="36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CE2D0-1D7A-40B9-AA5E-AD9224D3FDF8}"/>
              </a:ext>
            </a:extLst>
          </p:cNvPr>
          <p:cNvSpPr txBox="1"/>
          <p:nvPr/>
        </p:nvSpPr>
        <p:spPr>
          <a:xfrm>
            <a:off x="704849" y="1203821"/>
            <a:ext cx="107823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b="0" i="0" dirty="0">
                <a:solidFill>
                  <a:srgbClr val="333333"/>
                </a:solidFill>
                <a:effectLst/>
                <a:latin typeface="Merriweather"/>
              </a:rPr>
              <a:t>Модель сервера приложений (</a:t>
            </a:r>
            <a:r>
              <a:rPr lang="en-US" sz="2800" b="0" i="0" dirty="0">
                <a:solidFill>
                  <a:srgbClr val="333333"/>
                </a:solidFill>
                <a:effectLst/>
                <a:latin typeface="Merriweather"/>
              </a:rPr>
              <a:t>AS)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7DC2E4-8765-40C3-81D0-2E13A3833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5" y="2119312"/>
            <a:ext cx="944766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48904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{E7921153-B2DF-4019-B994-AB152F3456EA}tf33552983_win32</Template>
  <TotalTime>272</TotalTime>
  <Words>114</Words>
  <Application>Microsoft Office PowerPoint</Application>
  <PresentationFormat>Широкоэкранный</PresentationFormat>
  <Paragraphs>20</Paragraphs>
  <Slides>7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Calibri</vt:lpstr>
      <vt:lpstr>Corbel</vt:lpstr>
      <vt:lpstr>Franklin Gothic Book</vt:lpstr>
      <vt:lpstr>Franklin Gothic Demi</vt:lpstr>
      <vt:lpstr>Merriweather</vt:lpstr>
      <vt:lpstr>Wingdings 2</vt:lpstr>
      <vt:lpstr>ДивидендVTI</vt:lpstr>
      <vt:lpstr>Изображение Paintbrush</vt:lpstr>
      <vt:lpstr>КЛИЕНТ-СЕРВЕРНая архитектура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ОТЛАДКА И ТЕСТИРОВАНИЕ  ПРОГРАММНОГО ПРОДУКТА</dc:title>
  <dc:creator>Екатерина Лобанова</dc:creator>
  <cp:lastModifiedBy>Екатерина Лобанова</cp:lastModifiedBy>
  <cp:revision>21</cp:revision>
  <dcterms:created xsi:type="dcterms:W3CDTF">2020-09-03T19:08:12Z</dcterms:created>
  <dcterms:modified xsi:type="dcterms:W3CDTF">2022-02-04T19:53:05Z</dcterms:modified>
</cp:coreProperties>
</file>