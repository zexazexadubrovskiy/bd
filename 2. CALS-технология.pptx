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7"/>
  </p:notesMasterIdLst>
  <p:handoutMasterIdLst>
    <p:handoutMasterId r:id="rId8"/>
  </p:handoutMasterIdLst>
  <p:sldIdLst>
    <p:sldId id="257" r:id="rId2"/>
    <p:sldId id="259" r:id="rId3"/>
    <p:sldId id="260" r:id="rId4"/>
    <p:sldId id="261" r:id="rId5"/>
    <p:sldId id="263" r:id="rId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F2607F-EAB8-462D-9596-B11A1C51125F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0EC31D-9C0F-4EDB-9AC9-93AE84D7514D}" type="datetime1">
              <a:rPr lang="ru-RU" smtClean="0"/>
              <a:t>05.02.2022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48E6C3-8E12-426B-A56F-861F8B162AC6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13CF11-4D7C-4367-8D00-578223D03103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40FCE8-CB6C-4798-845F-C8260D76B307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C13A7E-4C64-47B0-B355-B165BE4012BA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1CA3B4-5CE4-4976-BBFE-4E91C7258FC5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 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316041-DA7D-4734-AA8C-761AB09393E2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92EF8B-D3DF-4216-96A1-1B1DE794B37A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09563768-3096-48CB-A41A-8D454362CCAD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0088EE-0E82-4198-BDFF-3B9755AA8919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323C2A-FDF4-456A-A556-14045268B55D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D5CFD7-CC7C-49C5-B221-A9E29F5846A0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6B9E6FA-8E94-487D-81C3-7EE9BB2FD23D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Прямоуголь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Прямоуголь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en-US" dirty="0"/>
              <a:t>CALS-</a:t>
            </a:r>
            <a:r>
              <a:rPr lang="ru-RU" dirty="0"/>
              <a:t>ТЕХНОЛОГИЯ</a:t>
            </a:r>
            <a:endParaRPr lang="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Основные</a:t>
            </a:r>
            <a:r>
              <a:rPr lang="ru" dirty="0"/>
              <a:t> понятия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Рисунок 5" descr="Крупный план логотипа&#10;&#10;Автоматически созданное описание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2B08E32-AA97-4444-BC55-482F40090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952500"/>
            <a:ext cx="11029615" cy="3486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CALS – CONTINIOUS ACQUISITION AND LIFE SUPPORT – </a:t>
            </a:r>
            <a:r>
              <a:rPr lang="ru-RU" sz="2000" dirty="0"/>
              <a:t>непрерывная информационная поддержка поставок и жизненного цикла.</a:t>
            </a:r>
          </a:p>
          <a:p>
            <a:pPr marL="0" indent="0" algn="just">
              <a:buNone/>
            </a:pPr>
            <a:endParaRPr lang="ru-RU" sz="2000" dirty="0"/>
          </a:p>
          <a:p>
            <a:pPr marL="0" indent="0" algn="just">
              <a:buNone/>
            </a:pPr>
            <a:r>
              <a:rPr lang="en-US" sz="2000" dirty="0"/>
              <a:t>CALS – COMMERCE AT LIGHT SPEED – </a:t>
            </a:r>
            <a:r>
              <a:rPr lang="ru-RU" sz="2000" dirty="0"/>
              <a:t>высокоскоростная коммерция.</a:t>
            </a:r>
          </a:p>
          <a:p>
            <a:pPr marL="0" indent="0" algn="just">
              <a:buNone/>
            </a:pPr>
            <a:endParaRPr lang="ru-RU" sz="2000" dirty="0"/>
          </a:p>
          <a:p>
            <a:pPr marL="0" indent="0" algn="just">
              <a:buNone/>
            </a:pPr>
            <a:r>
              <a:rPr lang="en-US" sz="2000" dirty="0"/>
              <a:t>CALS </a:t>
            </a:r>
            <a:r>
              <a:rPr lang="ru-RU" sz="2000" dirty="0"/>
              <a:t>– основа концепции разработки удаленных баз данных.</a:t>
            </a:r>
          </a:p>
          <a:p>
            <a:pPr marL="0" indent="0" algn="just">
              <a:buNone/>
            </a:pPr>
            <a:endParaRPr lang="ru-RU" sz="2000" dirty="0"/>
          </a:p>
          <a:p>
            <a:pPr marL="0" indent="0" algn="just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05.02.2022</a:t>
            </a:fld>
            <a:endParaRPr lang="en-US" dirty="0"/>
          </a:p>
        </p:txBody>
      </p:sp>
      <p:sp>
        <p:nvSpPr>
          <p:cNvPr id="2" name="Стрелка: вниз 1">
            <a:extLst>
              <a:ext uri="{FF2B5EF4-FFF2-40B4-BE49-F238E27FC236}">
                <a16:creationId xmlns:a16="http://schemas.microsoft.com/office/drawing/2014/main" id="{F79466B1-DCC9-45C5-A967-FDFD28138088}"/>
              </a:ext>
            </a:extLst>
          </p:cNvPr>
          <p:cNvSpPr/>
          <p:nvPr/>
        </p:nvSpPr>
        <p:spPr>
          <a:xfrm>
            <a:off x="5105400" y="3993007"/>
            <a:ext cx="2181225" cy="22479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74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2B08E32-AA97-4444-BC55-482F40090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952500"/>
            <a:ext cx="11029615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CALS</a:t>
            </a:r>
            <a:r>
              <a:rPr lang="ru-RU" sz="2000" dirty="0"/>
              <a:t> </a:t>
            </a:r>
            <a:r>
              <a:rPr lang="en-US" sz="2000" dirty="0"/>
              <a:t>– </a:t>
            </a:r>
            <a:r>
              <a:rPr lang="ru-RU" sz="2000" dirty="0"/>
              <a:t>технология – это направление развития информационного обеспечения производственных и бизнес-процессов, направленное на создание единого информационного пространства, основу которого составляют удаленные базы данных.</a:t>
            </a:r>
          </a:p>
          <a:p>
            <a:pPr marL="0" indent="0" algn="just">
              <a:buNone/>
            </a:pPr>
            <a:endParaRPr lang="ru-RU" sz="2000" dirty="0"/>
          </a:p>
          <a:p>
            <a:pPr marL="0" indent="0" algn="just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</a:rPr>
              <a:t>В русскоязычный среде термин CALS обычно заменяют на ИПИ (Информационная Поддержка жизненного цикла Изделий). </a:t>
            </a:r>
          </a:p>
          <a:p>
            <a:pPr marL="0" indent="0" algn="just">
              <a:buNone/>
            </a:pPr>
            <a:r>
              <a:rPr lang="ru-RU" sz="2000" dirty="0">
                <a:solidFill>
                  <a:srgbClr val="000000"/>
                </a:solidFill>
              </a:rPr>
              <a:t>Н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аряду с </a:t>
            </a:r>
            <a:r>
              <a:rPr lang="ru-RU" sz="2000" b="0" i="0" strike="noStrike" dirty="0">
                <a:solidFill>
                  <a:schemeClr val="tx1"/>
                </a:solidFill>
                <a:effectLst/>
              </a:rPr>
              <a:t>CALS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 используется также термин 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</a:rPr>
              <a:t>PLM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 (</a:t>
            </a:r>
            <a:r>
              <a:rPr lang="ru-RU" sz="2000" b="0" i="0" dirty="0" err="1">
                <a:solidFill>
                  <a:srgbClr val="000000"/>
                </a:solidFill>
                <a:effectLst/>
              </a:rPr>
              <a:t>Product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</a:rPr>
              <a:t>Lifecycle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</a:rPr>
              <a:t>Management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).</a:t>
            </a:r>
          </a:p>
          <a:p>
            <a:pPr marL="0" indent="0" algn="just"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ru-RU" sz="2000" dirty="0">
                <a:solidFill>
                  <a:srgbClr val="000000"/>
                </a:solidFill>
              </a:rPr>
              <a:t>Совокупность удаленных баз данных, содержащих сведения об изделиях, производственной среде, ресурсах и процессах, обеспечивающих корректность, актуальность, сохранность и доступность данных тем субъектам, участвующим в осуществлении ЖЦ изделия, которым это необходимо и разрешено </a:t>
            </a:r>
            <a:r>
              <a:rPr lang="ru-RU" sz="2000" dirty="0"/>
              <a:t>–</a:t>
            </a:r>
            <a:r>
              <a:rPr lang="ru-RU" sz="2000" dirty="0">
                <a:solidFill>
                  <a:srgbClr val="000000"/>
                </a:solidFill>
              </a:rPr>
              <a:t> Интегрированная информационная среда .</a:t>
            </a:r>
            <a:endParaRPr lang="ru-RU" sz="2000" dirty="0"/>
          </a:p>
          <a:p>
            <a:pPr marL="0" indent="0" algn="just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05.02.2022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229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2B08E32-AA97-4444-BC55-482F40090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952500"/>
            <a:ext cx="11029615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4000" b="1" u="sng" dirty="0"/>
              <a:t>Основной принцип </a:t>
            </a:r>
            <a:r>
              <a:rPr lang="en-US" sz="4000" b="1" u="sng" dirty="0"/>
              <a:t>CALS</a:t>
            </a:r>
            <a:endParaRPr lang="ru-RU" sz="4000" b="1" u="sng" dirty="0"/>
          </a:p>
          <a:p>
            <a:pPr marL="0" indent="0" algn="just">
              <a:buNone/>
            </a:pPr>
            <a:r>
              <a:rPr lang="ru-RU" sz="4000" dirty="0"/>
              <a:t>Информация однажды возникшая на каком-либо этапе ЖЦ сохраняется и становится доступной всем субъектам процесса в соответствии с имеющимися у них правами пользования данной информацией.</a:t>
            </a:r>
          </a:p>
          <a:p>
            <a:pPr marL="0" indent="0" algn="just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05.02.2022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065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2B08E32-AA97-4444-BC55-482F40090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586677"/>
            <a:ext cx="11029615" cy="6019799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3600" b="1" u="sng" dirty="0"/>
              <a:t>Этапы проектирования многопользовательских баз данных</a:t>
            </a:r>
          </a:p>
          <a:p>
            <a:pPr algn="just">
              <a:buFontTx/>
              <a:buChar char="-"/>
            </a:pPr>
            <a:r>
              <a:rPr lang="ru-RU" sz="4000" dirty="0"/>
              <a:t>планирование разработки;</a:t>
            </a:r>
          </a:p>
          <a:p>
            <a:pPr algn="just">
              <a:buFontTx/>
              <a:buChar char="-"/>
            </a:pPr>
            <a:r>
              <a:rPr lang="ru-RU" sz="4000" dirty="0">
                <a:solidFill>
                  <a:schemeClr val="accent2">
                    <a:lumMod val="75000"/>
                  </a:schemeClr>
                </a:solidFill>
              </a:rPr>
              <a:t>определение требований к СУБД;</a:t>
            </a:r>
          </a:p>
          <a:p>
            <a:pPr algn="just">
              <a:buFontTx/>
              <a:buChar char="-"/>
            </a:pPr>
            <a:r>
              <a:rPr lang="ru-RU" sz="4000" dirty="0">
                <a:solidFill>
                  <a:schemeClr val="accent2">
                    <a:lumMod val="75000"/>
                  </a:schemeClr>
                </a:solidFill>
              </a:rPr>
              <a:t>разработка единого описания характеристик объектов БД;</a:t>
            </a:r>
          </a:p>
          <a:p>
            <a:pPr algn="just">
              <a:buFontTx/>
              <a:buChar char="-"/>
            </a:pPr>
            <a:r>
              <a:rPr lang="ru-RU" sz="4000" dirty="0">
                <a:solidFill>
                  <a:schemeClr val="accent2">
                    <a:lumMod val="75000"/>
                  </a:schemeClr>
                </a:solidFill>
              </a:rPr>
              <a:t>разработка и исследование моделей БД;</a:t>
            </a:r>
          </a:p>
          <a:p>
            <a:pPr algn="just">
              <a:buFontTx/>
              <a:buChar char="-"/>
            </a:pPr>
            <a:r>
              <a:rPr lang="ru-RU" sz="4000" dirty="0">
                <a:solidFill>
                  <a:schemeClr val="accent4">
                    <a:lumMod val="75000"/>
                  </a:schemeClr>
                </a:solidFill>
              </a:rPr>
              <a:t>разработка «эскизного» проекта;</a:t>
            </a:r>
          </a:p>
          <a:p>
            <a:pPr algn="just">
              <a:buFontTx/>
              <a:buChar char="-"/>
            </a:pPr>
            <a:r>
              <a:rPr lang="ru-RU" sz="4000" dirty="0">
                <a:solidFill>
                  <a:schemeClr val="accent4">
                    <a:lumMod val="75000"/>
                  </a:schemeClr>
                </a:solidFill>
              </a:rPr>
              <a:t>разработка приложения;</a:t>
            </a:r>
          </a:p>
          <a:p>
            <a:pPr algn="just">
              <a:buFontTx/>
              <a:buChar char="-"/>
            </a:pPr>
            <a:r>
              <a:rPr lang="ru-RU" sz="4000" dirty="0">
                <a:solidFill>
                  <a:schemeClr val="tx1"/>
                </a:solidFill>
              </a:rPr>
              <a:t>загрузка данных;</a:t>
            </a:r>
          </a:p>
          <a:p>
            <a:pPr algn="just">
              <a:buFontTx/>
              <a:buChar char="-"/>
            </a:pPr>
            <a:r>
              <a:rPr lang="ru-RU" sz="4000" dirty="0">
                <a:solidFill>
                  <a:schemeClr val="tx1"/>
                </a:solidFill>
              </a:rPr>
              <a:t>тестирование и отладка;</a:t>
            </a:r>
          </a:p>
          <a:p>
            <a:pPr algn="just">
              <a:buFontTx/>
              <a:buChar char="-"/>
            </a:pPr>
            <a:r>
              <a:rPr lang="ru-RU" sz="4000" dirty="0">
                <a:solidFill>
                  <a:schemeClr val="tx1"/>
                </a:solidFill>
              </a:rPr>
              <a:t>эксплуатация и сопровождение.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05.02.2022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177072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8_TF33552983" id="{160FF37C-0DDC-4D2E-AEAD-253EF6364DF1}" vid="{EC99DBC3-C858-4F3A-82DD-48D686A36D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{E7921153-B2DF-4019-B994-AB152F3456EA}tf33552983_win32</Template>
  <TotalTime>349</TotalTime>
  <Words>217</Words>
  <Application>Microsoft Office PowerPoint</Application>
  <PresentationFormat>Широкоэкранный</PresentationFormat>
  <Paragraphs>29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Calibri</vt:lpstr>
      <vt:lpstr>Corbel</vt:lpstr>
      <vt:lpstr>Franklin Gothic Book</vt:lpstr>
      <vt:lpstr>Franklin Gothic Demi</vt:lpstr>
      <vt:lpstr>Wingdings 2</vt:lpstr>
      <vt:lpstr>ДивидендVTI</vt:lpstr>
      <vt:lpstr>CALS-ТЕХНОЛОГИЯ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ОТЛАДКА И ТЕСТИРОВАНИЕ  ПРОГРАММНОГО ПРОДУКТА</dc:title>
  <dc:creator>Екатерина Лобанова</dc:creator>
  <cp:lastModifiedBy>Екатерина Лобанова</cp:lastModifiedBy>
  <cp:revision>28</cp:revision>
  <dcterms:created xsi:type="dcterms:W3CDTF">2020-09-03T19:08:12Z</dcterms:created>
  <dcterms:modified xsi:type="dcterms:W3CDTF">2022-02-05T03:17:31Z</dcterms:modified>
</cp:coreProperties>
</file>